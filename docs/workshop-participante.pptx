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3716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GitHub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0B981"/>
                </a:solidFill>
              </a:rPr>
              <a:t>Platform Extensibility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5A7"/>
                </a:solidFill>
              </a:rPr>
              <a:t>Academia FitCode  .  Workshop Fase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43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B95A7"/>
                </a:solidFill>
              </a:rPr>
              <a:t>8 Pilares de Governanca do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</a:rPr>
              <a:t>Objetivo do Workshop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Criar um site funcional e configurar os 8 pilares de governanca do GitHub Copilot -- um a 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14600"/>
            <a:ext cx="11247120" cy="118872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O challenge termina quando voce rodar gerar_evidencia.py
e ver 8/8 pilares configurados no HTML de evidencia.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Antes de comecar: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B95A7"/>
                </a:solidFill>
              </a:rPr>
              <a:t>Siga o guia PASSOS-INICIAIS.md para configurar seu ambiente.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</a:rPr>
              <a:t>Os 8 Pilares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743200" cy="20116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98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Regras permanentes que o Copilot
segue em todo contexto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88720"/>
            <a:ext cx="2743200" cy="20116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298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7830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Conhecimento especializado
injetado sob demanda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743200" cy="20116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28016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298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7830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Especialista com identidade,
escopo e ferramentas proprias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188720"/>
            <a:ext cx="2743200" cy="20116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28016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280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298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17830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Conexao a ferramentas externas
em tempo real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74720"/>
            <a:ext cx="2743200" cy="20116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566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0690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Intercepta e valida acoes
do agente automaticamente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474720"/>
            <a:ext cx="2743200" cy="20116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356616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3566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Knowledge 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848" y="40690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Documentacao versionada
como fonte de verdade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474720"/>
            <a:ext cx="2743200" cy="20116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356616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3566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Coding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0690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Copilot autonomo no GitHub
Issue -&gt; PR automatico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3474720"/>
            <a:ext cx="2743200" cy="20116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81160" y="3566160"/>
            <a:ext cx="384048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9448" y="3566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4069080"/>
            <a:ext cx="25237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Copilot diretamente
no terminal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918972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827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Passo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4688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Crie o Site com o 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5A7"/>
                </a:solidFill>
              </a:rPr>
              <a:t>Antes de aplicar governanca, use o Copilot para criar as secoes do site.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</a:rPr>
              <a:t>Crie a secao "Sobre a Academia" do site em HTML semantico.
Inclua: titulo h2, paragrafo de apresentacao, e tres cards
com diferenciais (Profissionais certificados, Equipamentos modernos,
Localizacao central). Use classes CSS com prefixo "fc-".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</a:rPr>
              <a:t>ATENCAO: Anote o resultado -- ele provavelmente nao vai seguir padroes de acessibilidade
(aria-label, roles, contraste) nem SEO. Voce vai ver a diferenca apos configurar as instructions.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</a:rPr>
              <a:t>Criterio: a secao existe e renderiza no navegador.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918972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827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Pilar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28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INSTRUCOES 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Analogia: Regras do condominio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Voce recebe um regulamento: pode fazer barulho ate 22h, lixo vai na lixeira separada.
Voce nao precisa perguntar essas regras toda vez -- elas ja foram internalizadas.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O que 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Regras permanentes que o Copilot le em todo contexto, automaticamente.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11247120" cy="47548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735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copilot-instructions.md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73552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7"/>
                </a:solidFill>
              </a:rPr>
              <a:t>padrao HTML semantico, nomenclatura CSS (fc-), regras de imagem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13048"/>
            <a:ext cx="11247120" cy="47548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acessibilidade.instructions.md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840480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7"/>
                </a:solidFill>
              </a:rPr>
              <a:t>aria-label, roles, contraste WCAG AA  --  applyTo: **/*.html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79976"/>
            <a:ext cx="11247120" cy="47548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074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seo.instructions.md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407408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7"/>
                </a:solidFill>
              </a:rPr>
              <a:t>meta tags obrigatorias, Open Graph, alt  --  applyTo: **/*.html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Valide: peca ao Copilot para criar um card -- deve gerar com aria-label, fc- e alt.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918972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827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Pilar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28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SKILLS 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Analogia: Cardapio de especialidades do chef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O chef tem fichas tecnicas especificas: temperatura exata, tempo de cozimento.
Quando um pedido especial entra, ele puxa a ficha tecnica. As Skills sao essas fichas.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O que 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Conhecimento especializado injetado sob demanda quando o contexto e relevante.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10698480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644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644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Instructions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2644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Skills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93592"/>
            <a:ext cx="10698480" cy="54864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2102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Quando 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621024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Sempre -- em todo chat do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621024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Sob demanda -- contexto relevante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87952"/>
            <a:ext cx="10698480" cy="548640"/>
          </a:xfrm>
          <a:prstGeom prst="rect">
            <a:avLst/>
          </a:prstGeom>
          <a:solidFill>
            <a:srgbClr val="161C2A"/>
          </a:solidFill>
          <a:ln>
            <a:solidFill>
              <a:srgbClr val="161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1538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O que define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215384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Regras gerais (semantica, a11y, SEO)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215384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Procedimentos especificos (templates)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82312"/>
            <a:ext cx="10698480" cy="54864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0974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Exemplo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809744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"Toda imagem deve ter alt"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809744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"Ao gerar secao hero, use este template"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Valide: peca 'Gere a secao de depoimentos' -- observe se usa blockquote e aria-label.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918972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827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Pilar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28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AGENTES 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Analogia: Especialista terceirizado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Quando sua empresa precisa de auditoria fiscal, contrata um contador especialista.
Ele tem ferramentas proprias e entrega no formato que voce precisa.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O que 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Agente com identidade, escopo e ferramentas proprias. Invocado com @nome.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394960" cy="59436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9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Nome: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3192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@qa-academia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291840"/>
            <a:ext cx="5394960" cy="59436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319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Missao: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3192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Revisor de qualidade do 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394960" cy="59436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05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Especialidade: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005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Acessibilidade, SEO, HTML semantico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977639"/>
            <a:ext cx="5394960" cy="59436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005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Formato: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005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VERMELHO Bloqueante | AMARELO Atencao | VERDE Sugestao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5A7"/>
                </a:solidFill>
              </a:rPr>
              <a:t>Instructions = geram codigo certo  |  Agent @qa-academia = audita o que foi gerado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Valide: invoque @qa-academia e peca para revisar src/sections/sobre.html.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918972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827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Pilar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28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MCP  MCP -- Model Context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Analogia: O garcom do restaurante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Voce nao vai a cozinha buscar a comida. O garcom vai, traz o que voce pediu e entrega na mesa.
O garcom nao cozinha -- ele conecta voce a cozinha. O MCP funciona exatamente assim.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Servidores configurados: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11247120" cy="56692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6207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Busca qualquer URL publica em tempo real (docs, APIs, conteudo externo)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93008"/>
            <a:ext cx="11247120" cy="56692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filesystem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520439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Acessa arquivos do projeto com busca semantica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51376"/>
            <a:ext cx="11247120" cy="56692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precos-fitcode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17880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Servidor local com precos reais da Academia FitCode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</a:rPr>
              <a:t>Fluxo: 'Qual e o preco de Natacao?' -&gt; Copilot chama consultar_precos -&gt; MCP busca -&gt; Resposta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Valide: pergunte o preco do plano mensal de Natacao -- o Copilot usara a tool, nao vai inventar.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918972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827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Pilar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28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HOOKS  Hooks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Analogia: O porteiro do predio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Toda vez que alguem tenta sair com um pacote, o porteiro confere: tem autorizacao?
Se nao, o pacote volta. Os Hooks sao esse porteiro para o codigo do Copilot.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Eventos disponiveis: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11247120" cy="47548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sessionStart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62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Inicio da sessao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8620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Log de inicio, aviso de politicas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11247120" cy="475488"/>
          </a:xfrm>
          <a:prstGeom prst="rect">
            <a:avLst/>
          </a:prstGeom>
          <a:solidFill>
            <a:srgbClr val="10251A"/>
          </a:solidFill>
          <a:ln>
            <a:solidFill>
              <a:srgbClr val="102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10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preToolUse [UNICO]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4107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ANTES de executar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4107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UNICO que pode BLOQUEAR a acao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11247120" cy="47548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593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postToolUse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9593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Apos executar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9593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Validar resultado, rodar lint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11247120" cy="47548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07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userPromptSubmitted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5079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Ao enviar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5079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Filtrar dados sensiveis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47548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566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errorOccurred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05663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Quando ocorre erro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56631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Alerta automatico + rollback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Valide: execute o lint-guard.ps1 no arquivo src/test-hook.html com os erros intencionais.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918972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827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Pilar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28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KNOWLEDGE 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Analogia: A biblioteca da empresa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Toda empresa serio tem intranet: manuais de marca, tabelas de precos, procedimentos.
Um funcionario nao sai inventando -- ele consulta a intranet.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Arquivos da wiki: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docs/wiki/identidade-visual.md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8620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Paleta de cores, tipografia, logo, tom de voz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021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docs/wiki/conteudo-academia.md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50215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Modalidades, beneficios, publico-alvo, frases proibidas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4223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docs/wiki/suporte-sla.md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142231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Politicas de suporte e atendimento ao aluno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5A7"/>
                </a:solidFill>
              </a:rPr>
              <a:t>Skills = procedimento especifico  |  Knowledge Base = indice de toda documentacao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</a:rPr>
              <a:t>Conteudo mudou? Atualiza o Markdown. O agente usa a informacao nova automaticamente.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Valide: pergunte 'Qual e a cor primaria da marca?' sem indicar o arquivo.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918972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827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Pilar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28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CODING  Coding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Analogia: O funcionario autonomo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Voce manda a tarefa por escrito, ele planeja, executa e te manda o resultado para aprovar.
Voce nao ficou do lado dele -- ele trabalhou de forma autonoma.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Fluxo completo: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394960" cy="65836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1 - Atribuir 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Crie a issue no GitHub e atribua ao Copilot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834640"/>
            <a:ext cx="5394960" cy="65836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8620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2 - Copilot planeja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 AGENTS.md, instructions e explora o repo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5394960" cy="65836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3 - Codifica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Escreve HTML/CSS, roda lint e corrige falhas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611880"/>
            <a:ext cx="5394960" cy="658368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39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4 - Abre o 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Draft PR com codigo e link do deploy de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5A7"/>
                </a:solidFill>
              </a:rPr>
              <a:t>VS Code Agent Mode: voce presente, guiando | Coding Agent: Copilot trabalha sozinho, Issue -&gt; 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Valide: crie uma issue, atribua ao Copilot, aguarde o Draft PR automatico.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918972" cy="3474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01752"/>
            <a:ext cx="8275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</a:rPr>
              <a:t>Pilar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228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CLI 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274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1556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Analogia: O Copilot fora da janela grafica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Nem todo mundo usa interface grafica. Sysadmins, devops vivem no terminal.
O CLI garante que o Copilot esta la tambem -- sem botoes, sem mouse, sem 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Dois modos: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394960" cy="24688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gh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7"/>
                </a:solidFill>
              </a:rPr>
              <a:t>Resposta rapida, sem contexto do 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gh copilot suggest "como fazer deploy"
gh copilot explain "git rebase -i HEAD~3"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15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5A7"/>
                </a:solidFill>
              </a:rPr>
              <a:t>Otimo para comandos git e shell rapidos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34640"/>
            <a:ext cx="5394960" cy="24688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copilot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7"/>
                </a:solidFill>
              </a:rPr>
              <a:t>Agente completo com contexto do projeto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11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copilot  # inicia sessao
&gt; Verifique imagens sem alt
&gt; &amp;Gere secao em background
&gt; /resume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15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5A7"/>
                </a:solidFill>
              </a:rPr>
              <a:t>Otimo para tarefas de codigo no 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</a:rPr>
              <a:t>Valide: gh copilot suggest "como encontrar HTMLs sem meta description"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0B981"/>
                </a:solidFill>
              </a:rPr>
              <a:t>Execute os Blocos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30352"/>
          </a:xfrm>
          <a:prstGeom prst="rect">
            <a:avLst/>
          </a:prstGeom>
          <a:solidFill>
            <a:srgbClr val="121A10"/>
          </a:solidFill>
          <a:ln>
            <a:solidFill>
              <a:srgbClr val="121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161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Bloco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21615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bloco1-sem-padrao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21615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Agente sem governanca -- HTML sem a11y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92224"/>
            <a:ext cx="11247120" cy="530352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96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Bloco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1965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bloco2-com-instructions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81965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Instructions + Skills -- HTML acessivel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11247120" cy="530352"/>
          </a:xfrm>
          <a:prstGeom prst="rect">
            <a:avLst/>
          </a:prstGeom>
          <a:solidFill>
            <a:srgbClr val="121A10"/>
          </a:solidFill>
          <a:ln>
            <a:solidFill>
              <a:srgbClr val="121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Bloco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231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bloco3-mcp-fetch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42316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MCP -- agente busca diretrizes WCAG ao vivo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9232"/>
            <a:ext cx="11247120" cy="530352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266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Bloco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2666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bloco4-adicionar-animacao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02666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Hook -- lint dispara e agente corrige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02736"/>
            <a:ext cx="11247120" cy="530352"/>
          </a:xfrm>
          <a:prstGeom prst="rect">
            <a:avLst/>
          </a:prstGeom>
          <a:solidFill>
            <a:srgbClr val="121A10"/>
          </a:solidFill>
          <a:ln>
            <a:solidFill>
              <a:srgbClr val="121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0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Bloco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6301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@qa-academia no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63016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Custom Agent revisor de acessibilidade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11247120" cy="530352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336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Bloco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233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bloco6-knowledge-base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23367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Knowledge Base -- wiki -&gt; codigo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09744"/>
            <a:ext cx="11247120" cy="530352"/>
          </a:xfrm>
          <a:prstGeom prst="rect">
            <a:avLst/>
          </a:prstGeom>
          <a:solidFill>
            <a:srgbClr val="121A10"/>
          </a:solidFill>
          <a:ln>
            <a:solidFill>
              <a:srgbClr val="121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371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Bloco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8371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Atribuir issue ao Copilot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837176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Coding Agent -- Issue -&gt; PR + deploy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13248"/>
            <a:ext cx="11247120" cy="530352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440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Bloco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44068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gh copilot / copilot CLI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544068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7"/>
                </a:solidFill>
              </a:rPr>
              <a:t>CLI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5A7"/>
                </a:solidFill>
              </a:rPr>
              <a:t>Os prompts aparecem no Copilot Chat  ( / para listar 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Gere sua Evidencia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python setup/gerar_evidencia.py --nome "Seu Nome Completo" --turma front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O HTML abrira automaticamente. Voce deve ver 8/8 pilares configurados.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11247120" cy="1554480"/>
          </a:xfrm>
          <a:prstGeom prst="rect">
            <a:avLst/>
          </a:prstGeom>
          <a:solidFill>
            <a:srgbClr val="1E2535"/>
          </a:solidFill>
          <a:ln>
            <a:solidFill>
              <a:srgbClr val="1E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735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Checklist final: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393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OK  8/8 pilares configurados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OK  Site renderiza no navegador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33087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OK  Screenshot do card de evidencia tirado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7997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OK  PR do Coding Agent revisado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B95A7"/>
                </a:solidFill>
              </a:rPr>
              <a:t>Tire o screenshot do card e envie como evidencia de conclusao.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0000"/>
                </a:solidFill>
              </a:rPr>
              <a:t>Bom workshop!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